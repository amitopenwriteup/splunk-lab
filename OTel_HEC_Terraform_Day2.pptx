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737360"/>
            <a:ext cx="9144000" cy="457200"/>
          </a:xfrm>
          <a:prstGeom prst="rect">
            <a:avLst/>
          </a:prstGeom>
          <a:noFill/>
          <a:ln/>
        </p:spPr>
        <p:txBody>
          <a:bodyPr wrap="square" lIns="0" tIns="0" rIns="0" bIns="0" rtlCol="0" anchor="ctr"/>
          <a:lstStyle/>
          <a:p>
            <a:pPr indent="0" marL="0">
              <a:buNone/>
            </a:pPr>
            <a:r>
              <a:rPr lang="en-US" sz="1500" b="1" spc="200" kern="0" dirty="0">
                <a:solidFill>
                  <a:srgbClr val="2F5CA6"/>
                </a:solidFill>
                <a:latin typeface="Calibri" pitchFamily="34" charset="0"/>
                <a:ea typeface="Calibri" pitchFamily="34" charset="-122"/>
                <a:cs typeface="Calibri" pitchFamily="34" charset="-120"/>
              </a:rPr>
              <a:t>DATA COLLECTION &amp; AUTOMATION</a:t>
            </a:r>
            <a:endParaRPr lang="en-US" sz="1500" dirty="0"/>
          </a:p>
        </p:txBody>
      </p:sp>
      <p:sp>
        <p:nvSpPr>
          <p:cNvPr id="3" name="Text 1"/>
          <p:cNvSpPr/>
          <p:nvPr/>
        </p:nvSpPr>
        <p:spPr>
          <a:xfrm>
            <a:off x="822960" y="2148840"/>
            <a:ext cx="9601200" cy="10058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OTel &amp; HEC</a:t>
            </a:r>
            <a:endParaRPr lang="en-US" sz="4600" dirty="0"/>
          </a:p>
        </p:txBody>
      </p:sp>
      <p:sp>
        <p:nvSpPr>
          <p:cNvPr id="4" name="Text 2"/>
          <p:cNvSpPr/>
          <p:nvPr/>
        </p:nvSpPr>
        <p:spPr>
          <a:xfrm>
            <a:off x="822960" y="3108960"/>
            <a:ext cx="10058400" cy="54864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What They Are, Why You Need Them, and Why Automate with Terraform</a:t>
            </a:r>
            <a:endParaRPr lang="en-US" sz="1800" dirty="0"/>
          </a:p>
        </p:txBody>
      </p:sp>
      <p:sp>
        <p:nvSpPr>
          <p:cNvPr id="5" name="Shape 3"/>
          <p:cNvSpPr/>
          <p:nvPr/>
        </p:nvSpPr>
        <p:spPr>
          <a:xfrm>
            <a:off x="822960" y="4617720"/>
            <a:ext cx="2286000" cy="822960"/>
          </a:xfrm>
          <a:prstGeom prst="rect">
            <a:avLst/>
          </a:prstGeom>
          <a:solidFill>
            <a:srgbClr val="F4F6FA"/>
          </a:solidFill>
          <a:ln w="15875">
            <a:solidFill>
              <a:srgbClr val="1E2761"/>
            </a:solidFill>
            <a:prstDash val="solid"/>
          </a:ln>
        </p:spPr>
      </p:sp>
      <p:sp>
        <p:nvSpPr>
          <p:cNvPr id="6" name="Text 4"/>
          <p:cNvSpPr/>
          <p:nvPr/>
        </p:nvSpPr>
        <p:spPr>
          <a:xfrm>
            <a:off x="868680" y="4617720"/>
            <a:ext cx="2194560" cy="82296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OTel</a:t>
            </a:r>
            <a:endParaRPr lang="en-US" sz="1400" dirty="0"/>
          </a:p>
        </p:txBody>
      </p:sp>
      <p:sp>
        <p:nvSpPr>
          <p:cNvPr id="7" name="Shape 5"/>
          <p:cNvSpPr/>
          <p:nvPr/>
        </p:nvSpPr>
        <p:spPr>
          <a:xfrm>
            <a:off x="3520440" y="4617720"/>
            <a:ext cx="2286000" cy="822960"/>
          </a:xfrm>
          <a:prstGeom prst="rect">
            <a:avLst/>
          </a:prstGeom>
          <a:solidFill>
            <a:srgbClr val="F4F6FA"/>
          </a:solidFill>
          <a:ln w="15875">
            <a:solidFill>
              <a:srgbClr val="1E2761"/>
            </a:solidFill>
            <a:prstDash val="solid"/>
          </a:ln>
        </p:spPr>
      </p:sp>
      <p:sp>
        <p:nvSpPr>
          <p:cNvPr id="8" name="Text 6"/>
          <p:cNvSpPr/>
          <p:nvPr/>
        </p:nvSpPr>
        <p:spPr>
          <a:xfrm>
            <a:off x="3566160" y="4617720"/>
            <a:ext cx="2194560" cy="82296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HEC</a:t>
            </a:r>
            <a:endParaRPr lang="en-US" sz="1400" dirty="0"/>
          </a:p>
        </p:txBody>
      </p:sp>
      <p:sp>
        <p:nvSpPr>
          <p:cNvPr id="9" name="Shape 7"/>
          <p:cNvSpPr/>
          <p:nvPr/>
        </p:nvSpPr>
        <p:spPr>
          <a:xfrm>
            <a:off x="6217920" y="4617720"/>
            <a:ext cx="2286000" cy="822960"/>
          </a:xfrm>
          <a:prstGeom prst="rect">
            <a:avLst/>
          </a:prstGeom>
          <a:solidFill>
            <a:srgbClr val="F4F6FA"/>
          </a:solidFill>
          <a:ln w="15875">
            <a:solidFill>
              <a:srgbClr val="1E2761"/>
            </a:solidFill>
            <a:prstDash val="solid"/>
          </a:ln>
        </p:spPr>
      </p:sp>
      <p:sp>
        <p:nvSpPr>
          <p:cNvPr id="10" name="Text 8"/>
          <p:cNvSpPr/>
          <p:nvPr/>
        </p:nvSpPr>
        <p:spPr>
          <a:xfrm>
            <a:off x="6263640" y="4617720"/>
            <a:ext cx="2194560" cy="82296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TERRAFORM</a:t>
            </a:r>
            <a:endParaRPr lang="en-US" sz="1400" dirty="0"/>
          </a:p>
        </p:txBody>
      </p:sp>
      <p:sp>
        <p:nvSpPr>
          <p:cNvPr id="11" name="Shape 9"/>
          <p:cNvSpPr/>
          <p:nvPr/>
        </p:nvSpPr>
        <p:spPr>
          <a:xfrm>
            <a:off x="3108960" y="5029200"/>
            <a:ext cx="411480" cy="0"/>
          </a:xfrm>
          <a:prstGeom prst="line">
            <a:avLst/>
          </a:prstGeom>
          <a:noFill/>
          <a:ln w="19050">
            <a:solidFill>
              <a:srgbClr val="1E2761"/>
            </a:solidFill>
            <a:prstDash val="solid"/>
            <a:tailEnd type="triangle"/>
          </a:ln>
        </p:spPr>
      </p:sp>
      <p:sp>
        <p:nvSpPr>
          <p:cNvPr id="12" name="Shape 10"/>
          <p:cNvSpPr/>
          <p:nvPr/>
        </p:nvSpPr>
        <p:spPr>
          <a:xfrm>
            <a:off x="5806440" y="5029200"/>
            <a:ext cx="411480" cy="0"/>
          </a:xfrm>
          <a:prstGeom prst="line">
            <a:avLst/>
          </a:prstGeom>
          <a:noFill/>
          <a:ln w="19050">
            <a:solidFill>
              <a:srgbClr val="1E2761"/>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Agenda</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What we'll cover in this session</a:t>
            </a:r>
            <a:endParaRPr lang="en-US" sz="1400" dirty="0"/>
          </a:p>
        </p:txBody>
      </p:sp>
      <p:sp>
        <p:nvSpPr>
          <p:cNvPr id="6" name="Shape 4"/>
          <p:cNvSpPr/>
          <p:nvPr/>
        </p:nvSpPr>
        <p:spPr>
          <a:xfrm>
            <a:off x="548640" y="1554480"/>
            <a:ext cx="640080" cy="530352"/>
          </a:xfrm>
          <a:prstGeom prst="rect">
            <a:avLst/>
          </a:prstGeom>
          <a:solidFill>
            <a:srgbClr val="FFFFFF"/>
          </a:solidFill>
          <a:ln w="15875">
            <a:solidFill>
              <a:srgbClr val="1E2761"/>
            </a:solidFill>
            <a:prstDash val="solid"/>
          </a:ln>
        </p:spPr>
      </p:sp>
      <p:sp>
        <p:nvSpPr>
          <p:cNvPr id="7" name="Text 5"/>
          <p:cNvSpPr/>
          <p:nvPr/>
        </p:nvSpPr>
        <p:spPr>
          <a:xfrm>
            <a:off x="594360" y="1554480"/>
            <a:ext cx="548640" cy="530352"/>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371600" y="1536192"/>
            <a:ext cx="4389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What is OTel?</a:t>
            </a:r>
            <a:endParaRPr lang="en-US" sz="1350" dirty="0"/>
          </a:p>
        </p:txBody>
      </p:sp>
      <p:sp>
        <p:nvSpPr>
          <p:cNvPr id="9" name="Text 7"/>
          <p:cNvSpPr/>
          <p:nvPr/>
        </p:nvSpPr>
        <p:spPr>
          <a:xfrm>
            <a:off x="1371600" y="1801368"/>
            <a:ext cx="98755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The OpenTelemetry Collector, and the role it plays</a:t>
            </a:r>
            <a:endParaRPr lang="en-US" sz="1100" dirty="0"/>
          </a:p>
        </p:txBody>
      </p:sp>
      <p:sp>
        <p:nvSpPr>
          <p:cNvPr id="10" name="Shape 8"/>
          <p:cNvSpPr/>
          <p:nvPr/>
        </p:nvSpPr>
        <p:spPr>
          <a:xfrm>
            <a:off x="548640" y="2267712"/>
            <a:ext cx="640080" cy="530352"/>
          </a:xfrm>
          <a:prstGeom prst="rect">
            <a:avLst/>
          </a:prstGeom>
          <a:solidFill>
            <a:srgbClr val="FFFFFF"/>
          </a:solidFill>
          <a:ln w="15875">
            <a:solidFill>
              <a:srgbClr val="1E2761"/>
            </a:solidFill>
            <a:prstDash val="solid"/>
          </a:ln>
        </p:spPr>
      </p:sp>
      <p:sp>
        <p:nvSpPr>
          <p:cNvPr id="11" name="Text 9"/>
          <p:cNvSpPr/>
          <p:nvPr/>
        </p:nvSpPr>
        <p:spPr>
          <a:xfrm>
            <a:off x="594360" y="2267712"/>
            <a:ext cx="548640" cy="530352"/>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1371600" y="2249424"/>
            <a:ext cx="4389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Why OTel is Needed</a:t>
            </a:r>
            <a:endParaRPr lang="en-US" sz="1350" dirty="0"/>
          </a:p>
        </p:txBody>
      </p:sp>
      <p:sp>
        <p:nvSpPr>
          <p:cNvPr id="13" name="Text 11"/>
          <p:cNvSpPr/>
          <p:nvPr/>
        </p:nvSpPr>
        <p:spPr>
          <a:xfrm>
            <a:off x="1371600" y="2514600"/>
            <a:ext cx="98755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The problem it solves versus multiple vendor agents</a:t>
            </a:r>
            <a:endParaRPr lang="en-US" sz="1100" dirty="0"/>
          </a:p>
        </p:txBody>
      </p:sp>
      <p:sp>
        <p:nvSpPr>
          <p:cNvPr id="14" name="Shape 12"/>
          <p:cNvSpPr/>
          <p:nvPr/>
        </p:nvSpPr>
        <p:spPr>
          <a:xfrm>
            <a:off x="548640" y="2980944"/>
            <a:ext cx="640080" cy="530352"/>
          </a:xfrm>
          <a:prstGeom prst="rect">
            <a:avLst/>
          </a:prstGeom>
          <a:solidFill>
            <a:srgbClr val="FFFFFF"/>
          </a:solidFill>
          <a:ln w="15875">
            <a:solidFill>
              <a:srgbClr val="1E2761"/>
            </a:solidFill>
            <a:prstDash val="solid"/>
          </a:ln>
        </p:spPr>
      </p:sp>
      <p:sp>
        <p:nvSpPr>
          <p:cNvPr id="15" name="Text 13"/>
          <p:cNvSpPr/>
          <p:nvPr/>
        </p:nvSpPr>
        <p:spPr>
          <a:xfrm>
            <a:off x="594360" y="2980944"/>
            <a:ext cx="548640" cy="530352"/>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03</a:t>
            </a:r>
            <a:endParaRPr lang="en-US" sz="1600" dirty="0"/>
          </a:p>
        </p:txBody>
      </p:sp>
      <p:sp>
        <p:nvSpPr>
          <p:cNvPr id="16" name="Text 14"/>
          <p:cNvSpPr/>
          <p:nvPr/>
        </p:nvSpPr>
        <p:spPr>
          <a:xfrm>
            <a:off x="1371600" y="2962656"/>
            <a:ext cx="4389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What is HEC?</a:t>
            </a:r>
            <a:endParaRPr lang="en-US" sz="1350" dirty="0"/>
          </a:p>
        </p:txBody>
      </p:sp>
      <p:sp>
        <p:nvSpPr>
          <p:cNvPr id="17" name="Text 15"/>
          <p:cNvSpPr/>
          <p:nvPr/>
        </p:nvSpPr>
        <p:spPr>
          <a:xfrm>
            <a:off x="1371600" y="3227832"/>
            <a:ext cx="98755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Splunk's HTTP Event Collector and how data reaches it</a:t>
            </a:r>
            <a:endParaRPr lang="en-US" sz="1100" dirty="0"/>
          </a:p>
        </p:txBody>
      </p:sp>
      <p:sp>
        <p:nvSpPr>
          <p:cNvPr id="18" name="Shape 16"/>
          <p:cNvSpPr/>
          <p:nvPr/>
        </p:nvSpPr>
        <p:spPr>
          <a:xfrm>
            <a:off x="548640" y="3694176"/>
            <a:ext cx="640080" cy="530352"/>
          </a:xfrm>
          <a:prstGeom prst="rect">
            <a:avLst/>
          </a:prstGeom>
          <a:solidFill>
            <a:srgbClr val="FFFFFF"/>
          </a:solidFill>
          <a:ln w="15875">
            <a:solidFill>
              <a:srgbClr val="1E2761"/>
            </a:solidFill>
            <a:prstDash val="solid"/>
          </a:ln>
        </p:spPr>
      </p:sp>
      <p:sp>
        <p:nvSpPr>
          <p:cNvPr id="19" name="Text 17"/>
          <p:cNvSpPr/>
          <p:nvPr/>
        </p:nvSpPr>
        <p:spPr>
          <a:xfrm>
            <a:off x="594360" y="3694176"/>
            <a:ext cx="548640" cy="530352"/>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04</a:t>
            </a:r>
            <a:endParaRPr lang="en-US" sz="1600" dirty="0"/>
          </a:p>
        </p:txBody>
      </p:sp>
      <p:sp>
        <p:nvSpPr>
          <p:cNvPr id="20" name="Text 18"/>
          <p:cNvSpPr/>
          <p:nvPr/>
        </p:nvSpPr>
        <p:spPr>
          <a:xfrm>
            <a:off x="1371600" y="3675888"/>
            <a:ext cx="4389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Why HEC is Needed</a:t>
            </a:r>
            <a:endParaRPr lang="en-US" sz="1350" dirty="0"/>
          </a:p>
        </p:txBody>
      </p:sp>
      <p:sp>
        <p:nvSpPr>
          <p:cNvPr id="21" name="Text 19"/>
          <p:cNvSpPr/>
          <p:nvPr/>
        </p:nvSpPr>
        <p:spPr>
          <a:xfrm>
            <a:off x="1371600" y="3941064"/>
            <a:ext cx="98755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Why a token-based HTTP path matters for ingestion</a:t>
            </a:r>
            <a:endParaRPr lang="en-US" sz="1100" dirty="0"/>
          </a:p>
        </p:txBody>
      </p:sp>
      <p:sp>
        <p:nvSpPr>
          <p:cNvPr id="22" name="Shape 20"/>
          <p:cNvSpPr/>
          <p:nvPr/>
        </p:nvSpPr>
        <p:spPr>
          <a:xfrm>
            <a:off x="548640" y="4407408"/>
            <a:ext cx="640080" cy="530352"/>
          </a:xfrm>
          <a:prstGeom prst="rect">
            <a:avLst/>
          </a:prstGeom>
          <a:solidFill>
            <a:srgbClr val="FFFFFF"/>
          </a:solidFill>
          <a:ln w="15875">
            <a:solidFill>
              <a:srgbClr val="1E2761"/>
            </a:solidFill>
            <a:prstDash val="solid"/>
          </a:ln>
        </p:spPr>
      </p:sp>
      <p:sp>
        <p:nvSpPr>
          <p:cNvPr id="23" name="Text 21"/>
          <p:cNvSpPr/>
          <p:nvPr/>
        </p:nvSpPr>
        <p:spPr>
          <a:xfrm>
            <a:off x="594360" y="4407408"/>
            <a:ext cx="548640" cy="530352"/>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05</a:t>
            </a:r>
            <a:endParaRPr lang="en-US" sz="1600" dirty="0"/>
          </a:p>
        </p:txBody>
      </p:sp>
      <p:sp>
        <p:nvSpPr>
          <p:cNvPr id="24" name="Text 22"/>
          <p:cNvSpPr/>
          <p:nvPr/>
        </p:nvSpPr>
        <p:spPr>
          <a:xfrm>
            <a:off x="1371600" y="4389120"/>
            <a:ext cx="4389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OTel + HEC Together</a:t>
            </a:r>
            <a:endParaRPr lang="en-US" sz="1350" dirty="0"/>
          </a:p>
        </p:txBody>
      </p:sp>
      <p:sp>
        <p:nvSpPr>
          <p:cNvPr id="25" name="Text 23"/>
          <p:cNvSpPr/>
          <p:nvPr/>
        </p:nvSpPr>
        <p:spPr>
          <a:xfrm>
            <a:off x="1371600" y="4654296"/>
            <a:ext cx="98755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How the two combine in a single data pipeline</a:t>
            </a:r>
            <a:endParaRPr lang="en-US" sz="1100" dirty="0"/>
          </a:p>
        </p:txBody>
      </p:sp>
      <p:sp>
        <p:nvSpPr>
          <p:cNvPr id="26" name="Shape 24"/>
          <p:cNvSpPr/>
          <p:nvPr/>
        </p:nvSpPr>
        <p:spPr>
          <a:xfrm>
            <a:off x="548640" y="5120640"/>
            <a:ext cx="640080" cy="530352"/>
          </a:xfrm>
          <a:prstGeom prst="rect">
            <a:avLst/>
          </a:prstGeom>
          <a:solidFill>
            <a:srgbClr val="FFFFFF"/>
          </a:solidFill>
          <a:ln w="15875">
            <a:solidFill>
              <a:srgbClr val="1E2761"/>
            </a:solidFill>
            <a:prstDash val="solid"/>
          </a:ln>
        </p:spPr>
      </p:sp>
      <p:sp>
        <p:nvSpPr>
          <p:cNvPr id="27" name="Text 25"/>
          <p:cNvSpPr/>
          <p:nvPr/>
        </p:nvSpPr>
        <p:spPr>
          <a:xfrm>
            <a:off x="594360" y="5120640"/>
            <a:ext cx="548640" cy="530352"/>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06</a:t>
            </a:r>
            <a:endParaRPr lang="en-US" sz="1600" dirty="0"/>
          </a:p>
        </p:txBody>
      </p:sp>
      <p:sp>
        <p:nvSpPr>
          <p:cNvPr id="28" name="Text 26"/>
          <p:cNvSpPr/>
          <p:nvPr/>
        </p:nvSpPr>
        <p:spPr>
          <a:xfrm>
            <a:off x="1371600" y="5102352"/>
            <a:ext cx="4389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Why Automate with Terraform</a:t>
            </a:r>
            <a:endParaRPr lang="en-US" sz="1350" dirty="0"/>
          </a:p>
        </p:txBody>
      </p:sp>
      <p:sp>
        <p:nvSpPr>
          <p:cNvPr id="29" name="Text 27"/>
          <p:cNvSpPr/>
          <p:nvPr/>
        </p:nvSpPr>
        <p:spPr>
          <a:xfrm>
            <a:off x="1371600" y="5367528"/>
            <a:ext cx="987552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The case for infrastructure as code over manual setup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OTel?</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 vendor-neutral standard for collecting telemetry data</a:t>
            </a:r>
            <a:endParaRPr lang="en-US" sz="1400" dirty="0"/>
          </a:p>
        </p:txBody>
      </p:sp>
      <p:sp>
        <p:nvSpPr>
          <p:cNvPr id="6" name="Text 4"/>
          <p:cNvSpPr/>
          <p:nvPr/>
        </p:nvSpPr>
        <p:spPr>
          <a:xfrm>
            <a:off x="548640" y="1508760"/>
            <a:ext cx="11064240" cy="100584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OpenTelemetry (OTel) is an open-source standard and toolset for collecting metrics, traces, and logs from applications and infrastructure. The Splunk Distribution of the OpenTelemetry Collector runs as an agent or gateway, gathering telemetry and forwarding it to Splunk Observability Cloud — without locking you into a single vendor's proprietary agent.</a:t>
            </a:r>
            <a:endParaRPr lang="en-US" sz="1400" dirty="0"/>
          </a:p>
        </p:txBody>
      </p:sp>
      <p:sp>
        <p:nvSpPr>
          <p:cNvPr id="7" name="Shape 5"/>
          <p:cNvSpPr/>
          <p:nvPr/>
        </p:nvSpPr>
        <p:spPr>
          <a:xfrm>
            <a:off x="731520" y="2880360"/>
            <a:ext cx="2743200" cy="1600200"/>
          </a:xfrm>
          <a:prstGeom prst="rect">
            <a:avLst/>
          </a:prstGeom>
          <a:solidFill>
            <a:srgbClr val="F4F6FA"/>
          </a:solidFill>
          <a:ln w="15875">
            <a:solidFill>
              <a:srgbClr val="1E2761"/>
            </a:solidFill>
            <a:prstDash val="solid"/>
          </a:ln>
        </p:spPr>
      </p:sp>
      <p:sp>
        <p:nvSpPr>
          <p:cNvPr id="8" name="Text 6"/>
          <p:cNvSpPr/>
          <p:nvPr/>
        </p:nvSpPr>
        <p:spPr>
          <a:xfrm>
            <a:off x="804672" y="2935224"/>
            <a:ext cx="259689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Sources</a:t>
            </a:r>
            <a:endParaRPr lang="en-US" sz="1300" dirty="0"/>
          </a:p>
        </p:txBody>
      </p:sp>
      <p:sp>
        <p:nvSpPr>
          <p:cNvPr id="9" name="Text 7"/>
          <p:cNvSpPr/>
          <p:nvPr/>
        </p:nvSpPr>
        <p:spPr>
          <a:xfrm>
            <a:off x="804672" y="3191256"/>
            <a:ext cx="2596896" cy="123444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Applications, hosts,</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containers, cloud services</a:t>
            </a:r>
            <a:endParaRPr lang="en-US" sz="950" dirty="0"/>
          </a:p>
        </p:txBody>
      </p:sp>
      <p:sp>
        <p:nvSpPr>
          <p:cNvPr id="10" name="Shape 8"/>
          <p:cNvSpPr/>
          <p:nvPr/>
        </p:nvSpPr>
        <p:spPr>
          <a:xfrm>
            <a:off x="3474720" y="3680460"/>
            <a:ext cx="548640" cy="0"/>
          </a:xfrm>
          <a:prstGeom prst="line">
            <a:avLst/>
          </a:prstGeom>
          <a:noFill/>
          <a:ln w="19050">
            <a:solidFill>
              <a:srgbClr val="1E2761"/>
            </a:solidFill>
            <a:prstDash val="solid"/>
            <a:tailEnd type="triangle"/>
          </a:ln>
        </p:spPr>
      </p:sp>
      <p:sp>
        <p:nvSpPr>
          <p:cNvPr id="11" name="Shape 9"/>
          <p:cNvSpPr/>
          <p:nvPr/>
        </p:nvSpPr>
        <p:spPr>
          <a:xfrm>
            <a:off x="4023360" y="2880360"/>
            <a:ext cx="3291840" cy="1600200"/>
          </a:xfrm>
          <a:prstGeom prst="rect">
            <a:avLst/>
          </a:prstGeom>
          <a:solidFill>
            <a:srgbClr val="1E2761"/>
          </a:solidFill>
          <a:ln w="15875">
            <a:solidFill>
              <a:srgbClr val="1E2761"/>
            </a:solidFill>
            <a:prstDash val="solid"/>
          </a:ln>
        </p:spPr>
      </p:sp>
      <p:sp>
        <p:nvSpPr>
          <p:cNvPr id="12" name="Text 10"/>
          <p:cNvSpPr/>
          <p:nvPr/>
        </p:nvSpPr>
        <p:spPr>
          <a:xfrm>
            <a:off x="4096512" y="2935224"/>
            <a:ext cx="31455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OTel Collector</a:t>
            </a:r>
            <a:endParaRPr lang="en-US" sz="1300" dirty="0"/>
          </a:p>
        </p:txBody>
      </p:sp>
      <p:sp>
        <p:nvSpPr>
          <p:cNvPr id="13" name="Text 11"/>
          <p:cNvSpPr/>
          <p:nvPr/>
        </p:nvSpPr>
        <p:spPr>
          <a:xfrm>
            <a:off x="4096512" y="3191256"/>
            <a:ext cx="3145536" cy="1234440"/>
          </a:xfrm>
          <a:prstGeom prst="rect">
            <a:avLst/>
          </a:prstGeom>
          <a:noFill/>
          <a:ln/>
        </p:spPr>
        <p:txBody>
          <a:bodyPr wrap="square" lIns="0" tIns="0" rIns="0" bIns="0" rtlCol="0" anchor="t"/>
          <a:lstStyle/>
          <a:p>
            <a:pPr algn="ctr" indent="0" marL="0">
              <a:buNone/>
            </a:pPr>
            <a:r>
              <a:rPr lang="en-US" sz="950" dirty="0">
                <a:solidFill>
                  <a:srgbClr val="E4E9F5"/>
                </a:solidFill>
                <a:latin typeface="Calibri" pitchFamily="34" charset="0"/>
                <a:ea typeface="Calibri" pitchFamily="34" charset="-122"/>
                <a:cs typeface="Calibri" pitchFamily="34" charset="-120"/>
              </a:rPr>
              <a:t>Receives, processes</a:t>
            </a:r>
            <a:endParaRPr lang="en-US" sz="950" dirty="0"/>
          </a:p>
          <a:p>
            <a:pPr algn="ctr" indent="0" marL="0">
              <a:buNone/>
            </a:pPr>
            <a:r>
              <a:rPr lang="en-US" sz="950" dirty="0">
                <a:solidFill>
                  <a:srgbClr val="E4E9F5"/>
                </a:solidFill>
                <a:latin typeface="Calibri" pitchFamily="34" charset="0"/>
                <a:ea typeface="Calibri" pitchFamily="34" charset="-122"/>
                <a:cs typeface="Calibri" pitchFamily="34" charset="-120"/>
              </a:rPr>
              <a:t>and exports metrics,</a:t>
            </a:r>
            <a:endParaRPr lang="en-US" sz="950" dirty="0"/>
          </a:p>
          <a:p>
            <a:pPr algn="ctr" indent="0" marL="0">
              <a:buNone/>
            </a:pPr>
            <a:r>
              <a:rPr lang="en-US" sz="950" dirty="0">
                <a:solidFill>
                  <a:srgbClr val="E4E9F5"/>
                </a:solidFill>
                <a:latin typeface="Calibri" pitchFamily="34" charset="0"/>
                <a:ea typeface="Calibri" pitchFamily="34" charset="-122"/>
                <a:cs typeface="Calibri" pitchFamily="34" charset="-120"/>
              </a:rPr>
              <a:t>traces and logs</a:t>
            </a:r>
            <a:endParaRPr lang="en-US" sz="950" dirty="0"/>
          </a:p>
        </p:txBody>
      </p:sp>
      <p:sp>
        <p:nvSpPr>
          <p:cNvPr id="14" name="Shape 12"/>
          <p:cNvSpPr/>
          <p:nvPr/>
        </p:nvSpPr>
        <p:spPr>
          <a:xfrm>
            <a:off x="7315200" y="3680460"/>
            <a:ext cx="548640" cy="0"/>
          </a:xfrm>
          <a:prstGeom prst="line">
            <a:avLst/>
          </a:prstGeom>
          <a:noFill/>
          <a:ln w="19050">
            <a:solidFill>
              <a:srgbClr val="1E2761"/>
            </a:solidFill>
            <a:prstDash val="solid"/>
            <a:tailEnd type="triangle"/>
          </a:ln>
        </p:spPr>
      </p:sp>
      <p:sp>
        <p:nvSpPr>
          <p:cNvPr id="15" name="Shape 13"/>
          <p:cNvSpPr/>
          <p:nvPr/>
        </p:nvSpPr>
        <p:spPr>
          <a:xfrm>
            <a:off x="7863840" y="2880360"/>
            <a:ext cx="2743200" cy="1600200"/>
          </a:xfrm>
          <a:prstGeom prst="rect">
            <a:avLst/>
          </a:prstGeom>
          <a:solidFill>
            <a:srgbClr val="F4F6FA"/>
          </a:solidFill>
          <a:ln w="15875">
            <a:solidFill>
              <a:srgbClr val="1E2761"/>
            </a:solidFill>
            <a:prstDash val="solid"/>
          </a:ln>
        </p:spPr>
      </p:sp>
      <p:sp>
        <p:nvSpPr>
          <p:cNvPr id="16" name="Text 14"/>
          <p:cNvSpPr/>
          <p:nvPr/>
        </p:nvSpPr>
        <p:spPr>
          <a:xfrm>
            <a:off x="7936992" y="2935224"/>
            <a:ext cx="259689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Backends</a:t>
            </a:r>
            <a:endParaRPr lang="en-US" sz="1300" dirty="0"/>
          </a:p>
        </p:txBody>
      </p:sp>
      <p:sp>
        <p:nvSpPr>
          <p:cNvPr id="17" name="Text 15"/>
          <p:cNvSpPr/>
          <p:nvPr/>
        </p:nvSpPr>
        <p:spPr>
          <a:xfrm>
            <a:off x="7936992" y="3191256"/>
            <a:ext cx="2596896" cy="123444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Splunk Observability</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Cloud (or any OTLP-</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compatible backend)</a:t>
            </a:r>
            <a:endParaRPr lang="en-US" sz="950" dirty="0"/>
          </a:p>
        </p:txBody>
      </p:sp>
      <p:sp>
        <p:nvSpPr>
          <p:cNvPr id="18" name="Text 16"/>
          <p:cNvSpPr/>
          <p:nvPr/>
        </p:nvSpPr>
        <p:spPr>
          <a:xfrm>
            <a:off x="548640" y="4892040"/>
            <a:ext cx="1106424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One collector, one config format, many possible destinations — that's the core idea behind OTel.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OTel is Needed</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problem it solves compared to fragmented, vendor-specific agents</a:t>
            </a:r>
            <a:endParaRPr lang="en-US" sz="1400" dirty="0"/>
          </a:p>
        </p:txBody>
      </p:sp>
      <p:sp>
        <p:nvSpPr>
          <p:cNvPr id="6" name="Shape 4"/>
          <p:cNvSpPr/>
          <p:nvPr/>
        </p:nvSpPr>
        <p:spPr>
          <a:xfrm>
            <a:off x="640080" y="1600200"/>
            <a:ext cx="5212080" cy="502920"/>
          </a:xfrm>
          <a:prstGeom prst="rect">
            <a:avLst/>
          </a:prstGeom>
          <a:solidFill>
            <a:srgbClr val="F4F6FA"/>
          </a:solidFill>
          <a:ln w="15875">
            <a:solidFill>
              <a:srgbClr val="1E2761"/>
            </a:solidFill>
            <a:prstDash val="solid"/>
          </a:ln>
        </p:spPr>
      </p:sp>
      <p:sp>
        <p:nvSpPr>
          <p:cNvPr id="7" name="Text 5"/>
          <p:cNvSpPr/>
          <p:nvPr/>
        </p:nvSpPr>
        <p:spPr>
          <a:xfrm>
            <a:off x="640080" y="1600200"/>
            <a:ext cx="5212080" cy="50292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WITHOUT OTEL</a:t>
            </a:r>
            <a:endParaRPr lang="en-US" sz="1400" dirty="0"/>
          </a:p>
        </p:txBody>
      </p:sp>
      <p:sp>
        <p:nvSpPr>
          <p:cNvPr id="8" name="Shape 6"/>
          <p:cNvSpPr/>
          <p:nvPr/>
        </p:nvSpPr>
        <p:spPr>
          <a:xfrm>
            <a:off x="6400800" y="1600200"/>
            <a:ext cx="5212080" cy="502920"/>
          </a:xfrm>
          <a:prstGeom prst="rect">
            <a:avLst/>
          </a:prstGeom>
          <a:solidFill>
            <a:srgbClr val="1E2761"/>
          </a:solidFill>
          <a:ln w="15875">
            <a:solidFill>
              <a:srgbClr val="1E2761"/>
            </a:solidFill>
            <a:prstDash val="solid"/>
          </a:ln>
        </p:spPr>
      </p:sp>
      <p:sp>
        <p:nvSpPr>
          <p:cNvPr id="9" name="Text 7"/>
          <p:cNvSpPr/>
          <p:nvPr/>
        </p:nvSpPr>
        <p:spPr>
          <a:xfrm>
            <a:off x="6400800" y="1600200"/>
            <a:ext cx="5212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WITH OTEL</a:t>
            </a:r>
            <a:endParaRPr lang="en-US" sz="1400" dirty="0"/>
          </a:p>
        </p:txBody>
      </p:sp>
      <p:sp>
        <p:nvSpPr>
          <p:cNvPr id="10" name="Shape 8"/>
          <p:cNvSpPr/>
          <p:nvPr/>
        </p:nvSpPr>
        <p:spPr>
          <a:xfrm>
            <a:off x="640080" y="2103120"/>
            <a:ext cx="5212080" cy="3703320"/>
          </a:xfrm>
          <a:prstGeom prst="rect">
            <a:avLst/>
          </a:prstGeom>
          <a:solidFill>
            <a:srgbClr val="FFFFFF"/>
          </a:solidFill>
          <a:ln w="12700">
            <a:solidFill>
              <a:srgbClr val="9AA3AF"/>
            </a:solidFill>
            <a:prstDash val="solid"/>
          </a:ln>
        </p:spPr>
      </p:sp>
      <p:sp>
        <p:nvSpPr>
          <p:cNvPr id="11" name="Shape 9"/>
          <p:cNvSpPr/>
          <p:nvPr/>
        </p:nvSpPr>
        <p:spPr>
          <a:xfrm>
            <a:off x="6400800" y="2103120"/>
            <a:ext cx="5212080" cy="3703320"/>
          </a:xfrm>
          <a:prstGeom prst="rect">
            <a:avLst/>
          </a:prstGeom>
          <a:solidFill>
            <a:srgbClr val="FFFFFF"/>
          </a:solidFill>
          <a:ln w="12700">
            <a:solidFill>
              <a:srgbClr val="9AA3AF"/>
            </a:solidFill>
            <a:prstDash val="solid"/>
          </a:ln>
        </p:spPr>
      </p:sp>
      <p:sp>
        <p:nvSpPr>
          <p:cNvPr id="12" name="Text 10"/>
          <p:cNvSpPr/>
          <p:nvPr/>
        </p:nvSpPr>
        <p:spPr>
          <a:xfrm>
            <a:off x="914400" y="2331720"/>
            <a:ext cx="4663440" cy="33832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A separate agent per vendor, each with its own config format</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Switching monitoring tools means re-instrumenting everything</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Inconsistent metric names and tagging across teams</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More agents running on every host, consuming more resources</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Data locked into a single vendor's collection format</a:t>
            </a:r>
            <a:endParaRPr lang="en-US" sz="1300" dirty="0"/>
          </a:p>
        </p:txBody>
      </p:sp>
      <p:sp>
        <p:nvSpPr>
          <p:cNvPr id="13" name="Text 11"/>
          <p:cNvSpPr/>
          <p:nvPr/>
        </p:nvSpPr>
        <p:spPr>
          <a:xfrm>
            <a:off x="6675120" y="2331720"/>
            <a:ext cx="4663440" cy="33832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One collector, one config format, for metrics, traces and logs</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Change backends without touching application instrumentation</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Consistent, standardized telemetry across every team</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A single lightweight process instead of several agents</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You own your data pipeline — no vendor lock-in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HEC?</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Splunk's token-based HTTP API for sending data in</a:t>
            </a:r>
            <a:endParaRPr lang="en-US" sz="1400" dirty="0"/>
          </a:p>
        </p:txBody>
      </p:sp>
      <p:sp>
        <p:nvSpPr>
          <p:cNvPr id="6" name="Text 4"/>
          <p:cNvSpPr/>
          <p:nvPr/>
        </p:nvSpPr>
        <p:spPr>
          <a:xfrm>
            <a:off x="548640" y="1508760"/>
            <a:ext cx="11064240" cy="100584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HTTP Event Collector (HEC) is Splunk's method for sending data and events into a Splunk platform deployment over HTTP or HTTPS. It uses token-based authentication: an application, script, or the OTel Collector sends data to a HEC endpoint along with a token, and Splunk indexes it — no separate forwarder installation required on the sending side.</a:t>
            </a:r>
            <a:endParaRPr lang="en-US" sz="1400" dirty="0"/>
          </a:p>
        </p:txBody>
      </p:sp>
      <p:sp>
        <p:nvSpPr>
          <p:cNvPr id="7" name="Shape 5"/>
          <p:cNvSpPr/>
          <p:nvPr/>
        </p:nvSpPr>
        <p:spPr>
          <a:xfrm>
            <a:off x="731520" y="2880360"/>
            <a:ext cx="2743200" cy="1600200"/>
          </a:xfrm>
          <a:prstGeom prst="rect">
            <a:avLst/>
          </a:prstGeom>
          <a:solidFill>
            <a:srgbClr val="F4F6FA"/>
          </a:solidFill>
          <a:ln w="15875">
            <a:solidFill>
              <a:srgbClr val="1E2761"/>
            </a:solidFill>
            <a:prstDash val="solid"/>
          </a:ln>
        </p:spPr>
      </p:sp>
      <p:sp>
        <p:nvSpPr>
          <p:cNvPr id="8" name="Text 6"/>
          <p:cNvSpPr/>
          <p:nvPr/>
        </p:nvSpPr>
        <p:spPr>
          <a:xfrm>
            <a:off x="804672" y="2935224"/>
            <a:ext cx="259689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Sending App</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or Collector</a:t>
            </a:r>
            <a:endParaRPr lang="en-US" sz="1300" dirty="0"/>
          </a:p>
        </p:txBody>
      </p:sp>
      <p:sp>
        <p:nvSpPr>
          <p:cNvPr id="9" name="Text 7"/>
          <p:cNvSpPr/>
          <p:nvPr/>
        </p:nvSpPr>
        <p:spPr>
          <a:xfrm>
            <a:off x="804672" y="3191256"/>
            <a:ext cx="2596896" cy="123444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Custom app, script,</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or OTel Collector</a:t>
            </a:r>
            <a:endParaRPr lang="en-US" sz="950" dirty="0"/>
          </a:p>
        </p:txBody>
      </p:sp>
      <p:sp>
        <p:nvSpPr>
          <p:cNvPr id="10" name="Shape 8"/>
          <p:cNvSpPr/>
          <p:nvPr/>
        </p:nvSpPr>
        <p:spPr>
          <a:xfrm>
            <a:off x="3474720" y="3680460"/>
            <a:ext cx="548640" cy="0"/>
          </a:xfrm>
          <a:prstGeom prst="line">
            <a:avLst/>
          </a:prstGeom>
          <a:noFill/>
          <a:ln w="19050">
            <a:solidFill>
              <a:srgbClr val="1E2761"/>
            </a:solidFill>
            <a:prstDash val="solid"/>
            <a:tailEnd type="triangle"/>
          </a:ln>
        </p:spPr>
      </p:sp>
      <p:sp>
        <p:nvSpPr>
          <p:cNvPr id="11" name="Shape 9"/>
          <p:cNvSpPr/>
          <p:nvPr/>
        </p:nvSpPr>
        <p:spPr>
          <a:xfrm>
            <a:off x="4023360" y="2880360"/>
            <a:ext cx="3291840" cy="1600200"/>
          </a:xfrm>
          <a:prstGeom prst="rect">
            <a:avLst/>
          </a:prstGeom>
          <a:solidFill>
            <a:srgbClr val="1E2761"/>
          </a:solidFill>
          <a:ln w="15875">
            <a:solidFill>
              <a:srgbClr val="1E2761"/>
            </a:solidFill>
            <a:prstDash val="solid"/>
          </a:ln>
        </p:spPr>
      </p:sp>
      <p:sp>
        <p:nvSpPr>
          <p:cNvPr id="12" name="Text 10"/>
          <p:cNvSpPr/>
          <p:nvPr/>
        </p:nvSpPr>
        <p:spPr>
          <a:xfrm>
            <a:off x="4096512" y="2935224"/>
            <a:ext cx="31455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HEC Endpoint</a:t>
            </a:r>
            <a:endParaRPr lang="en-US" sz="1300" dirty="0"/>
          </a:p>
        </p:txBody>
      </p:sp>
      <p:sp>
        <p:nvSpPr>
          <p:cNvPr id="13" name="Text 11"/>
          <p:cNvSpPr/>
          <p:nvPr/>
        </p:nvSpPr>
        <p:spPr>
          <a:xfrm>
            <a:off x="4096512" y="3191256"/>
            <a:ext cx="3145536" cy="1234440"/>
          </a:xfrm>
          <a:prstGeom prst="rect">
            <a:avLst/>
          </a:prstGeom>
          <a:noFill/>
          <a:ln/>
        </p:spPr>
        <p:txBody>
          <a:bodyPr wrap="square" lIns="0" tIns="0" rIns="0" bIns="0" rtlCol="0" anchor="t"/>
          <a:lstStyle/>
          <a:p>
            <a:pPr algn="ctr" indent="0" marL="0">
              <a:buNone/>
            </a:pPr>
            <a:r>
              <a:rPr lang="en-US" sz="950" dirty="0">
                <a:solidFill>
                  <a:srgbClr val="E4E9F5"/>
                </a:solidFill>
                <a:latin typeface="Calibri" pitchFamily="34" charset="0"/>
                <a:ea typeface="Calibri" pitchFamily="34" charset="-122"/>
                <a:cs typeface="Calibri" pitchFamily="34" charset="-120"/>
              </a:rPr>
              <a:t>Token-authenticated</a:t>
            </a:r>
            <a:endParaRPr lang="en-US" sz="950" dirty="0"/>
          </a:p>
          <a:p>
            <a:pPr algn="ctr" indent="0" marL="0">
              <a:buNone/>
            </a:pPr>
            <a:r>
              <a:rPr lang="en-US" sz="950" dirty="0">
                <a:solidFill>
                  <a:srgbClr val="E4E9F5"/>
                </a:solidFill>
                <a:latin typeface="Calibri" pitchFamily="34" charset="0"/>
                <a:ea typeface="Calibri" pitchFamily="34" charset="-122"/>
                <a:cs typeface="Calibri" pitchFamily="34" charset="-120"/>
              </a:rPr>
              <a:t>HTTP/HTTPS input,</a:t>
            </a:r>
            <a:endParaRPr lang="en-US" sz="950" dirty="0"/>
          </a:p>
          <a:p>
            <a:pPr algn="ctr" indent="0" marL="0">
              <a:buNone/>
            </a:pPr>
            <a:r>
              <a:rPr lang="en-US" sz="950" dirty="0">
                <a:solidFill>
                  <a:srgbClr val="E4E9F5"/>
                </a:solidFill>
                <a:latin typeface="Calibri" pitchFamily="34" charset="0"/>
                <a:ea typeface="Calibri" pitchFamily="34" charset="-122"/>
                <a:cs typeface="Calibri" pitchFamily="34" charset="-120"/>
              </a:rPr>
              <a:t>port 8088 by default</a:t>
            </a:r>
            <a:endParaRPr lang="en-US" sz="950" dirty="0"/>
          </a:p>
        </p:txBody>
      </p:sp>
      <p:sp>
        <p:nvSpPr>
          <p:cNvPr id="14" name="Shape 12"/>
          <p:cNvSpPr/>
          <p:nvPr/>
        </p:nvSpPr>
        <p:spPr>
          <a:xfrm>
            <a:off x="7315200" y="3680460"/>
            <a:ext cx="548640" cy="0"/>
          </a:xfrm>
          <a:prstGeom prst="line">
            <a:avLst/>
          </a:prstGeom>
          <a:noFill/>
          <a:ln w="19050">
            <a:solidFill>
              <a:srgbClr val="1E2761"/>
            </a:solidFill>
            <a:prstDash val="solid"/>
            <a:tailEnd type="triangle"/>
          </a:ln>
        </p:spPr>
      </p:sp>
      <p:sp>
        <p:nvSpPr>
          <p:cNvPr id="15" name="Shape 13"/>
          <p:cNvSpPr/>
          <p:nvPr/>
        </p:nvSpPr>
        <p:spPr>
          <a:xfrm>
            <a:off x="7863840" y="2880360"/>
            <a:ext cx="2743200" cy="1600200"/>
          </a:xfrm>
          <a:prstGeom prst="rect">
            <a:avLst/>
          </a:prstGeom>
          <a:solidFill>
            <a:srgbClr val="F4F6FA"/>
          </a:solidFill>
          <a:ln w="15875">
            <a:solidFill>
              <a:srgbClr val="1E2761"/>
            </a:solidFill>
            <a:prstDash val="solid"/>
          </a:ln>
        </p:spPr>
      </p:sp>
      <p:sp>
        <p:nvSpPr>
          <p:cNvPr id="16" name="Text 14"/>
          <p:cNvSpPr/>
          <p:nvPr/>
        </p:nvSpPr>
        <p:spPr>
          <a:xfrm>
            <a:off x="7936992" y="2935224"/>
            <a:ext cx="259689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Splunk Index</a:t>
            </a:r>
            <a:endParaRPr lang="en-US" sz="1300" dirty="0"/>
          </a:p>
        </p:txBody>
      </p:sp>
      <p:sp>
        <p:nvSpPr>
          <p:cNvPr id="17" name="Text 15"/>
          <p:cNvSpPr/>
          <p:nvPr/>
        </p:nvSpPr>
        <p:spPr>
          <a:xfrm>
            <a:off x="7936992" y="3191256"/>
            <a:ext cx="2596896" cy="123444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Data is indexed and</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searchable in Splunk</a:t>
            </a:r>
            <a:endParaRPr lang="en-US" sz="950" dirty="0"/>
          </a:p>
        </p:txBody>
      </p:sp>
      <p:sp>
        <p:nvSpPr>
          <p:cNvPr id="18" name="Text 16"/>
          <p:cNvSpPr/>
          <p:nvPr/>
        </p:nvSpPr>
        <p:spPr>
          <a:xfrm>
            <a:off x="548640" y="4892040"/>
            <a:ext cx="1106424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HEC is firewall-friendly and doesn't require deploying a Splunk forwarder on the source system.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HEC is Needed</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Four outcomes teams get once HEC is in place</a:t>
            </a:r>
            <a:endParaRPr lang="en-US" sz="1400" dirty="0"/>
          </a:p>
        </p:txBody>
      </p:sp>
      <p:sp>
        <p:nvSpPr>
          <p:cNvPr id="6" name="Shape 4"/>
          <p:cNvSpPr/>
          <p:nvPr/>
        </p:nvSpPr>
        <p:spPr>
          <a:xfrm>
            <a:off x="640080" y="1691640"/>
            <a:ext cx="2743200" cy="594360"/>
          </a:xfrm>
          <a:prstGeom prst="rect">
            <a:avLst/>
          </a:prstGeom>
          <a:solidFill>
            <a:srgbClr val="1E2761"/>
          </a:solidFill>
          <a:ln w="15875">
            <a:solidFill>
              <a:srgbClr val="1E2761"/>
            </a:solidFill>
            <a:prstDash val="solid"/>
          </a:ln>
        </p:spPr>
      </p:sp>
      <p:sp>
        <p:nvSpPr>
          <p:cNvPr id="7" name="Text 5"/>
          <p:cNvSpPr/>
          <p:nvPr/>
        </p:nvSpPr>
        <p:spPr>
          <a:xfrm>
            <a:off x="685800" y="1691640"/>
            <a:ext cx="26517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Forwarder Required</a:t>
            </a:r>
            <a:endParaRPr lang="en-US" sz="1250" dirty="0"/>
          </a:p>
        </p:txBody>
      </p:sp>
      <p:sp>
        <p:nvSpPr>
          <p:cNvPr id="8" name="Shape 6"/>
          <p:cNvSpPr/>
          <p:nvPr/>
        </p:nvSpPr>
        <p:spPr>
          <a:xfrm>
            <a:off x="640080" y="2286000"/>
            <a:ext cx="2743200" cy="2651760"/>
          </a:xfrm>
          <a:prstGeom prst="rect">
            <a:avLst/>
          </a:prstGeom>
          <a:solidFill>
            <a:srgbClr val="FFFFFF"/>
          </a:solidFill>
          <a:ln w="12700">
            <a:solidFill>
              <a:srgbClr val="9AA3AF"/>
            </a:solidFill>
            <a:prstDash val="solid"/>
          </a:ln>
        </p:spPr>
      </p:sp>
      <p:sp>
        <p:nvSpPr>
          <p:cNvPr id="9" name="Text 7"/>
          <p:cNvSpPr/>
          <p:nvPr/>
        </p:nvSpPr>
        <p:spPr>
          <a:xfrm>
            <a:off x="822960" y="2468880"/>
            <a:ext cx="2377440" cy="22860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Send data straight from an app, script, or the Collector over HTTP</a:t>
            </a:r>
            <a:endParaRPr lang="en-US" sz="1250" dirty="0"/>
          </a:p>
        </p:txBody>
      </p:sp>
      <p:sp>
        <p:nvSpPr>
          <p:cNvPr id="10" name="Shape 8"/>
          <p:cNvSpPr/>
          <p:nvPr/>
        </p:nvSpPr>
        <p:spPr>
          <a:xfrm>
            <a:off x="3703320" y="1691640"/>
            <a:ext cx="2743200" cy="594360"/>
          </a:xfrm>
          <a:prstGeom prst="rect">
            <a:avLst/>
          </a:prstGeom>
          <a:solidFill>
            <a:srgbClr val="1E2761"/>
          </a:solidFill>
          <a:ln w="15875">
            <a:solidFill>
              <a:srgbClr val="1E2761"/>
            </a:solidFill>
            <a:prstDash val="solid"/>
          </a:ln>
        </p:spPr>
      </p:sp>
      <p:sp>
        <p:nvSpPr>
          <p:cNvPr id="11" name="Text 9"/>
          <p:cNvSpPr/>
          <p:nvPr/>
        </p:nvSpPr>
        <p:spPr>
          <a:xfrm>
            <a:off x="3749040" y="1691640"/>
            <a:ext cx="26517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Token-Based Control</a:t>
            </a:r>
            <a:endParaRPr lang="en-US" sz="1250" dirty="0"/>
          </a:p>
        </p:txBody>
      </p:sp>
      <p:sp>
        <p:nvSpPr>
          <p:cNvPr id="12" name="Shape 10"/>
          <p:cNvSpPr/>
          <p:nvPr/>
        </p:nvSpPr>
        <p:spPr>
          <a:xfrm>
            <a:off x="3703320" y="2286000"/>
            <a:ext cx="2743200" cy="2651760"/>
          </a:xfrm>
          <a:prstGeom prst="rect">
            <a:avLst/>
          </a:prstGeom>
          <a:solidFill>
            <a:srgbClr val="FFFFFF"/>
          </a:solidFill>
          <a:ln w="12700">
            <a:solidFill>
              <a:srgbClr val="9AA3AF"/>
            </a:solidFill>
            <a:prstDash val="solid"/>
          </a:ln>
        </p:spPr>
      </p:sp>
      <p:sp>
        <p:nvSpPr>
          <p:cNvPr id="13" name="Text 11"/>
          <p:cNvSpPr/>
          <p:nvPr/>
        </p:nvSpPr>
        <p:spPr>
          <a:xfrm>
            <a:off x="3886200" y="2468880"/>
            <a:ext cx="2377440" cy="22860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Each token can be scoped to a source, sourcetype and index</a:t>
            </a:r>
            <a:endParaRPr lang="en-US" sz="1250" dirty="0"/>
          </a:p>
        </p:txBody>
      </p:sp>
      <p:sp>
        <p:nvSpPr>
          <p:cNvPr id="14" name="Shape 12"/>
          <p:cNvSpPr/>
          <p:nvPr/>
        </p:nvSpPr>
        <p:spPr>
          <a:xfrm>
            <a:off x="6766560" y="1691640"/>
            <a:ext cx="2743200" cy="594360"/>
          </a:xfrm>
          <a:prstGeom prst="rect">
            <a:avLst/>
          </a:prstGeom>
          <a:solidFill>
            <a:srgbClr val="1E2761"/>
          </a:solidFill>
          <a:ln w="15875">
            <a:solidFill>
              <a:srgbClr val="1E2761"/>
            </a:solidFill>
            <a:prstDash val="solid"/>
          </a:ln>
        </p:spPr>
      </p:sp>
      <p:sp>
        <p:nvSpPr>
          <p:cNvPr id="15" name="Text 13"/>
          <p:cNvSpPr/>
          <p:nvPr/>
        </p:nvSpPr>
        <p:spPr>
          <a:xfrm>
            <a:off x="6812280" y="1691640"/>
            <a:ext cx="26517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Firewall Friendly</a:t>
            </a:r>
            <a:endParaRPr lang="en-US" sz="1250" dirty="0"/>
          </a:p>
        </p:txBody>
      </p:sp>
      <p:sp>
        <p:nvSpPr>
          <p:cNvPr id="16" name="Shape 14"/>
          <p:cNvSpPr/>
          <p:nvPr/>
        </p:nvSpPr>
        <p:spPr>
          <a:xfrm>
            <a:off x="6766560" y="2286000"/>
            <a:ext cx="2743200" cy="2651760"/>
          </a:xfrm>
          <a:prstGeom prst="rect">
            <a:avLst/>
          </a:prstGeom>
          <a:solidFill>
            <a:srgbClr val="FFFFFF"/>
          </a:solidFill>
          <a:ln w="12700">
            <a:solidFill>
              <a:srgbClr val="9AA3AF"/>
            </a:solidFill>
            <a:prstDash val="solid"/>
          </a:ln>
        </p:spPr>
      </p:sp>
      <p:sp>
        <p:nvSpPr>
          <p:cNvPr id="17" name="Text 15"/>
          <p:cNvSpPr/>
          <p:nvPr/>
        </p:nvSpPr>
        <p:spPr>
          <a:xfrm>
            <a:off x="6949440" y="2468880"/>
            <a:ext cx="2377440" cy="22860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Standard HTTP/HTTPS traffic, easy to allow through network policy</a:t>
            </a:r>
            <a:endParaRPr lang="en-US" sz="1250" dirty="0"/>
          </a:p>
        </p:txBody>
      </p:sp>
      <p:sp>
        <p:nvSpPr>
          <p:cNvPr id="18" name="Shape 16"/>
          <p:cNvSpPr/>
          <p:nvPr/>
        </p:nvSpPr>
        <p:spPr>
          <a:xfrm>
            <a:off x="9829800" y="1691640"/>
            <a:ext cx="2743200" cy="594360"/>
          </a:xfrm>
          <a:prstGeom prst="rect">
            <a:avLst/>
          </a:prstGeom>
          <a:solidFill>
            <a:srgbClr val="1E2761"/>
          </a:solidFill>
          <a:ln w="15875">
            <a:solidFill>
              <a:srgbClr val="1E2761"/>
            </a:solidFill>
            <a:prstDash val="solid"/>
          </a:ln>
        </p:spPr>
      </p:sp>
      <p:sp>
        <p:nvSpPr>
          <p:cNvPr id="19" name="Text 17"/>
          <p:cNvSpPr/>
          <p:nvPr/>
        </p:nvSpPr>
        <p:spPr>
          <a:xfrm>
            <a:off x="9875520" y="1691640"/>
            <a:ext cx="26517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Flexible Routing</a:t>
            </a:r>
            <a:endParaRPr lang="en-US" sz="1250" dirty="0"/>
          </a:p>
        </p:txBody>
      </p:sp>
      <p:sp>
        <p:nvSpPr>
          <p:cNvPr id="20" name="Shape 18"/>
          <p:cNvSpPr/>
          <p:nvPr/>
        </p:nvSpPr>
        <p:spPr>
          <a:xfrm>
            <a:off x="9829800" y="2286000"/>
            <a:ext cx="2743200" cy="2651760"/>
          </a:xfrm>
          <a:prstGeom prst="rect">
            <a:avLst/>
          </a:prstGeom>
          <a:solidFill>
            <a:srgbClr val="FFFFFF"/>
          </a:solidFill>
          <a:ln w="12700">
            <a:solidFill>
              <a:srgbClr val="9AA3AF"/>
            </a:solidFill>
            <a:prstDash val="solid"/>
          </a:ln>
        </p:spPr>
      </p:sp>
      <p:sp>
        <p:nvSpPr>
          <p:cNvPr id="21" name="Text 19"/>
          <p:cNvSpPr/>
          <p:nvPr/>
        </p:nvSpPr>
        <p:spPr>
          <a:xfrm>
            <a:off x="10012680" y="2468880"/>
            <a:ext cx="2377440" cy="228600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Split metrics, logs and traces to the destinations that need them</a:t>
            </a:r>
            <a:endParaRPr lang="en-US" sz="1250" dirty="0"/>
          </a:p>
        </p:txBody>
      </p:sp>
      <p:sp>
        <p:nvSpPr>
          <p:cNvPr id="22" name="Text 20"/>
          <p:cNvSpPr/>
          <p:nvPr/>
        </p:nvSpPr>
        <p:spPr>
          <a:xfrm>
            <a:off x="548640" y="5120640"/>
            <a:ext cx="1106424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Together, these make HEC the simplest bridge between custom or third-party systems and Splunk.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OTel + HEC Together</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How the Collector uses HEC as one of its export paths</a:t>
            </a:r>
            <a:endParaRPr lang="en-US" sz="1400" dirty="0"/>
          </a:p>
        </p:txBody>
      </p:sp>
      <p:sp>
        <p:nvSpPr>
          <p:cNvPr id="6" name="Shape 4"/>
          <p:cNvSpPr/>
          <p:nvPr/>
        </p:nvSpPr>
        <p:spPr>
          <a:xfrm>
            <a:off x="457200" y="2377440"/>
            <a:ext cx="2377440" cy="1188720"/>
          </a:xfrm>
          <a:prstGeom prst="rect">
            <a:avLst/>
          </a:prstGeom>
          <a:solidFill>
            <a:srgbClr val="F4F6FA"/>
          </a:solidFill>
          <a:ln w="15875">
            <a:solidFill>
              <a:srgbClr val="1E2761"/>
            </a:solidFill>
            <a:prstDash val="solid"/>
          </a:ln>
        </p:spPr>
      </p:sp>
      <p:sp>
        <p:nvSpPr>
          <p:cNvPr id="7" name="Text 5"/>
          <p:cNvSpPr/>
          <p:nvPr/>
        </p:nvSpPr>
        <p:spPr>
          <a:xfrm>
            <a:off x="530352" y="2432304"/>
            <a:ext cx="223113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Applications</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&amp; Infrastructure</a:t>
            </a:r>
            <a:endParaRPr lang="en-US" sz="1300" dirty="0"/>
          </a:p>
        </p:txBody>
      </p:sp>
      <p:sp>
        <p:nvSpPr>
          <p:cNvPr id="8" name="Text 6"/>
          <p:cNvSpPr/>
          <p:nvPr/>
        </p:nvSpPr>
        <p:spPr>
          <a:xfrm>
            <a:off x="530352" y="2688336"/>
            <a:ext cx="2231136" cy="82296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Metrics, traces, logs</a:t>
            </a:r>
            <a:endParaRPr lang="en-US" sz="950" dirty="0"/>
          </a:p>
        </p:txBody>
      </p:sp>
      <p:sp>
        <p:nvSpPr>
          <p:cNvPr id="9" name="Shape 7"/>
          <p:cNvSpPr/>
          <p:nvPr/>
        </p:nvSpPr>
        <p:spPr>
          <a:xfrm>
            <a:off x="2834640" y="2971800"/>
            <a:ext cx="411480" cy="0"/>
          </a:xfrm>
          <a:prstGeom prst="line">
            <a:avLst/>
          </a:prstGeom>
          <a:noFill/>
          <a:ln w="19050">
            <a:solidFill>
              <a:srgbClr val="1E2761"/>
            </a:solidFill>
            <a:prstDash val="solid"/>
            <a:tailEnd type="triangle"/>
          </a:ln>
        </p:spPr>
      </p:sp>
      <p:sp>
        <p:nvSpPr>
          <p:cNvPr id="10" name="Shape 8"/>
          <p:cNvSpPr/>
          <p:nvPr/>
        </p:nvSpPr>
        <p:spPr>
          <a:xfrm>
            <a:off x="3246120" y="2377440"/>
            <a:ext cx="2743200" cy="1188720"/>
          </a:xfrm>
          <a:prstGeom prst="rect">
            <a:avLst/>
          </a:prstGeom>
          <a:solidFill>
            <a:srgbClr val="1E2761"/>
          </a:solidFill>
          <a:ln w="15875">
            <a:solidFill>
              <a:srgbClr val="1E2761"/>
            </a:solidFill>
            <a:prstDash val="solid"/>
          </a:ln>
        </p:spPr>
      </p:sp>
      <p:sp>
        <p:nvSpPr>
          <p:cNvPr id="11" name="Text 9"/>
          <p:cNvSpPr/>
          <p:nvPr/>
        </p:nvSpPr>
        <p:spPr>
          <a:xfrm>
            <a:off x="3319272" y="2432304"/>
            <a:ext cx="259689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OTel Collector</a:t>
            </a:r>
            <a:endParaRPr lang="en-US" sz="1300" dirty="0"/>
          </a:p>
        </p:txBody>
      </p:sp>
      <p:sp>
        <p:nvSpPr>
          <p:cNvPr id="12" name="Text 10"/>
          <p:cNvSpPr/>
          <p:nvPr/>
        </p:nvSpPr>
        <p:spPr>
          <a:xfrm>
            <a:off x="3319272" y="2688336"/>
            <a:ext cx="2596896" cy="822960"/>
          </a:xfrm>
          <a:prstGeom prst="rect">
            <a:avLst/>
          </a:prstGeom>
          <a:noFill/>
          <a:ln/>
        </p:spPr>
        <p:txBody>
          <a:bodyPr wrap="square" lIns="0" tIns="0" rIns="0" bIns="0" rtlCol="0" anchor="t"/>
          <a:lstStyle/>
          <a:p>
            <a:pPr algn="ctr" indent="0" marL="0">
              <a:buNone/>
            </a:pPr>
            <a:r>
              <a:rPr lang="en-US" sz="950" dirty="0">
                <a:solidFill>
                  <a:srgbClr val="E4E9F5"/>
                </a:solidFill>
                <a:latin typeface="Calibri" pitchFamily="34" charset="0"/>
                <a:ea typeface="Calibri" pitchFamily="34" charset="-122"/>
                <a:cs typeface="Calibri" pitchFamily="34" charset="-120"/>
              </a:rPr>
              <a:t>splunk_hec exporter</a:t>
            </a:r>
            <a:endParaRPr lang="en-US" sz="950" dirty="0"/>
          </a:p>
          <a:p>
            <a:pPr algn="ctr" indent="0" marL="0">
              <a:buNone/>
            </a:pPr>
            <a:r>
              <a:rPr lang="en-US" sz="950" dirty="0">
                <a:solidFill>
                  <a:srgbClr val="E4E9F5"/>
                </a:solidFill>
                <a:latin typeface="Calibri" pitchFamily="34" charset="0"/>
                <a:ea typeface="Calibri" pitchFamily="34" charset="-122"/>
                <a:cs typeface="Calibri" pitchFamily="34" charset="-120"/>
              </a:rPr>
              <a:t>in the logs pipeline</a:t>
            </a:r>
            <a:endParaRPr lang="en-US" sz="950" dirty="0"/>
          </a:p>
        </p:txBody>
      </p:sp>
      <p:sp>
        <p:nvSpPr>
          <p:cNvPr id="13" name="Shape 11"/>
          <p:cNvSpPr/>
          <p:nvPr/>
        </p:nvSpPr>
        <p:spPr>
          <a:xfrm>
            <a:off x="5989320" y="2971800"/>
            <a:ext cx="411480" cy="0"/>
          </a:xfrm>
          <a:prstGeom prst="line">
            <a:avLst/>
          </a:prstGeom>
          <a:noFill/>
          <a:ln w="19050">
            <a:solidFill>
              <a:srgbClr val="1E2761"/>
            </a:solidFill>
            <a:prstDash val="solid"/>
            <a:tailEnd type="triangle"/>
          </a:ln>
        </p:spPr>
      </p:sp>
      <p:sp>
        <p:nvSpPr>
          <p:cNvPr id="14" name="Shape 12"/>
          <p:cNvSpPr/>
          <p:nvPr/>
        </p:nvSpPr>
        <p:spPr>
          <a:xfrm>
            <a:off x="6400800" y="2377440"/>
            <a:ext cx="2743200" cy="1188720"/>
          </a:xfrm>
          <a:prstGeom prst="rect">
            <a:avLst/>
          </a:prstGeom>
          <a:solidFill>
            <a:srgbClr val="F4F6FA"/>
          </a:solidFill>
          <a:ln w="15875">
            <a:solidFill>
              <a:srgbClr val="1E2761"/>
            </a:solidFill>
            <a:prstDash val="solid"/>
          </a:ln>
        </p:spPr>
      </p:sp>
      <p:sp>
        <p:nvSpPr>
          <p:cNvPr id="15" name="Text 13"/>
          <p:cNvSpPr/>
          <p:nvPr/>
        </p:nvSpPr>
        <p:spPr>
          <a:xfrm>
            <a:off x="6473952" y="2432304"/>
            <a:ext cx="259689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HEC Endpoint</a:t>
            </a:r>
            <a:endParaRPr lang="en-US" sz="1300" dirty="0"/>
          </a:p>
        </p:txBody>
      </p:sp>
      <p:sp>
        <p:nvSpPr>
          <p:cNvPr id="16" name="Text 14"/>
          <p:cNvSpPr/>
          <p:nvPr/>
        </p:nvSpPr>
        <p:spPr>
          <a:xfrm>
            <a:off x="6473952" y="2688336"/>
            <a:ext cx="2596896" cy="82296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Token-authenticated</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HTTP ingestion</a:t>
            </a:r>
            <a:endParaRPr lang="en-US" sz="950" dirty="0"/>
          </a:p>
        </p:txBody>
      </p:sp>
      <p:sp>
        <p:nvSpPr>
          <p:cNvPr id="17" name="Shape 15"/>
          <p:cNvSpPr/>
          <p:nvPr/>
        </p:nvSpPr>
        <p:spPr>
          <a:xfrm>
            <a:off x="9144000" y="2971800"/>
            <a:ext cx="411480" cy="0"/>
          </a:xfrm>
          <a:prstGeom prst="line">
            <a:avLst/>
          </a:prstGeom>
          <a:noFill/>
          <a:ln w="19050">
            <a:solidFill>
              <a:srgbClr val="1E2761"/>
            </a:solidFill>
            <a:prstDash val="solid"/>
            <a:tailEnd type="triangle"/>
          </a:ln>
        </p:spPr>
      </p:sp>
      <p:sp>
        <p:nvSpPr>
          <p:cNvPr id="18" name="Shape 16"/>
          <p:cNvSpPr/>
          <p:nvPr/>
        </p:nvSpPr>
        <p:spPr>
          <a:xfrm>
            <a:off x="9555480" y="2377440"/>
            <a:ext cx="2377440" cy="1188720"/>
          </a:xfrm>
          <a:prstGeom prst="rect">
            <a:avLst/>
          </a:prstGeom>
          <a:solidFill>
            <a:srgbClr val="F4F6FA"/>
          </a:solidFill>
          <a:ln w="15875">
            <a:solidFill>
              <a:srgbClr val="1E2761"/>
            </a:solidFill>
            <a:prstDash val="solid"/>
          </a:ln>
        </p:spPr>
      </p:sp>
      <p:sp>
        <p:nvSpPr>
          <p:cNvPr id="19" name="Text 17"/>
          <p:cNvSpPr/>
          <p:nvPr/>
        </p:nvSpPr>
        <p:spPr>
          <a:xfrm>
            <a:off x="9628632" y="2432304"/>
            <a:ext cx="223113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Splunk</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Platform / O11y</a:t>
            </a:r>
            <a:endParaRPr lang="en-US" sz="1300" dirty="0"/>
          </a:p>
        </p:txBody>
      </p:sp>
      <p:sp>
        <p:nvSpPr>
          <p:cNvPr id="20" name="Text 18"/>
          <p:cNvSpPr/>
          <p:nvPr/>
        </p:nvSpPr>
        <p:spPr>
          <a:xfrm>
            <a:off x="9628632" y="2688336"/>
            <a:ext cx="2231136" cy="82296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Indexed and</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searchable data</a:t>
            </a:r>
            <a:endParaRPr lang="en-US" sz="950" dirty="0"/>
          </a:p>
        </p:txBody>
      </p:sp>
      <p:sp>
        <p:nvSpPr>
          <p:cNvPr id="21" name="Text 19"/>
          <p:cNvSpPr/>
          <p:nvPr/>
        </p:nvSpPr>
        <p:spPr>
          <a:xfrm>
            <a:off x="548640" y="4023360"/>
            <a:ext cx="11064240" cy="54864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The Collector standardizes how data is gathered; HEC is one of the paths it can use to deliver that data to Splunk.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Automate with Terraform</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problems teams hit once Collector and HEC setup is done by hand</a:t>
            </a:r>
            <a:endParaRPr lang="en-US" sz="1400" dirty="0"/>
          </a:p>
        </p:txBody>
      </p:sp>
      <p:sp>
        <p:nvSpPr>
          <p:cNvPr id="6" name="Shape 4"/>
          <p:cNvSpPr/>
          <p:nvPr/>
        </p:nvSpPr>
        <p:spPr>
          <a:xfrm>
            <a:off x="640080" y="1600200"/>
            <a:ext cx="5212080" cy="502920"/>
          </a:xfrm>
          <a:prstGeom prst="rect">
            <a:avLst/>
          </a:prstGeom>
          <a:solidFill>
            <a:srgbClr val="F4F6FA"/>
          </a:solidFill>
          <a:ln w="15875">
            <a:solidFill>
              <a:srgbClr val="1E2761"/>
            </a:solidFill>
            <a:prstDash val="solid"/>
          </a:ln>
        </p:spPr>
      </p:sp>
      <p:sp>
        <p:nvSpPr>
          <p:cNvPr id="7" name="Text 5"/>
          <p:cNvSpPr/>
          <p:nvPr/>
        </p:nvSpPr>
        <p:spPr>
          <a:xfrm>
            <a:off x="640080" y="1600200"/>
            <a:ext cx="5212080" cy="50292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MANUAL SETUP</a:t>
            </a:r>
            <a:endParaRPr lang="en-US" sz="1400" dirty="0"/>
          </a:p>
        </p:txBody>
      </p:sp>
      <p:sp>
        <p:nvSpPr>
          <p:cNvPr id="8" name="Shape 6"/>
          <p:cNvSpPr/>
          <p:nvPr/>
        </p:nvSpPr>
        <p:spPr>
          <a:xfrm>
            <a:off x="6400800" y="1600200"/>
            <a:ext cx="5212080" cy="502920"/>
          </a:xfrm>
          <a:prstGeom prst="rect">
            <a:avLst/>
          </a:prstGeom>
          <a:solidFill>
            <a:srgbClr val="1E2761"/>
          </a:solidFill>
          <a:ln w="15875">
            <a:solidFill>
              <a:srgbClr val="1E2761"/>
            </a:solidFill>
            <a:prstDash val="solid"/>
          </a:ln>
        </p:spPr>
      </p:sp>
      <p:sp>
        <p:nvSpPr>
          <p:cNvPr id="9" name="Text 7"/>
          <p:cNvSpPr/>
          <p:nvPr/>
        </p:nvSpPr>
        <p:spPr>
          <a:xfrm>
            <a:off x="6400800" y="1600200"/>
            <a:ext cx="5212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TERRAFORM AUTOMATION</a:t>
            </a:r>
            <a:endParaRPr lang="en-US" sz="1400" dirty="0"/>
          </a:p>
        </p:txBody>
      </p:sp>
      <p:sp>
        <p:nvSpPr>
          <p:cNvPr id="10" name="Shape 8"/>
          <p:cNvSpPr/>
          <p:nvPr/>
        </p:nvSpPr>
        <p:spPr>
          <a:xfrm>
            <a:off x="640080" y="2103120"/>
            <a:ext cx="5212080" cy="3703320"/>
          </a:xfrm>
          <a:prstGeom prst="rect">
            <a:avLst/>
          </a:prstGeom>
          <a:solidFill>
            <a:srgbClr val="FFFFFF"/>
          </a:solidFill>
          <a:ln w="12700">
            <a:solidFill>
              <a:srgbClr val="9AA3AF"/>
            </a:solidFill>
            <a:prstDash val="solid"/>
          </a:ln>
        </p:spPr>
      </p:sp>
      <p:sp>
        <p:nvSpPr>
          <p:cNvPr id="11" name="Shape 9"/>
          <p:cNvSpPr/>
          <p:nvPr/>
        </p:nvSpPr>
        <p:spPr>
          <a:xfrm>
            <a:off x="6400800" y="2103120"/>
            <a:ext cx="5212080" cy="3703320"/>
          </a:xfrm>
          <a:prstGeom prst="rect">
            <a:avLst/>
          </a:prstGeom>
          <a:solidFill>
            <a:srgbClr val="FFFFFF"/>
          </a:solidFill>
          <a:ln w="12700">
            <a:solidFill>
              <a:srgbClr val="9AA3AF"/>
            </a:solidFill>
            <a:prstDash val="solid"/>
          </a:ln>
        </p:spPr>
      </p:sp>
      <p:sp>
        <p:nvSpPr>
          <p:cNvPr id="12" name="Text 10"/>
          <p:cNvSpPr/>
          <p:nvPr/>
        </p:nvSpPr>
        <p:spPr>
          <a:xfrm>
            <a:off x="914400" y="2331720"/>
            <a:ext cx="4663440" cy="33832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Every host or cluster configured by hand, one at a time</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Config drift between environments is hard to detect</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No history of what changed, when, or why</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Re-deploying after a failure is slow and error-prone</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Access tokens and settings often live only in someone's memory</a:t>
            </a:r>
            <a:endParaRPr lang="en-US" sz="1300" dirty="0"/>
          </a:p>
        </p:txBody>
      </p:sp>
      <p:sp>
        <p:nvSpPr>
          <p:cNvPr id="13" name="Text 11"/>
          <p:cNvSpPr/>
          <p:nvPr/>
        </p:nvSpPr>
        <p:spPr>
          <a:xfrm>
            <a:off x="6675120" y="2331720"/>
            <a:ext cx="4663440" cy="33832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Same Collector and HEC config applied consistently everywhere</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Environments stay identical because they're defined in code</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Every change is version-controlled and reviewable</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Rebuild or recover an environment in minutes, not hours</a:t>
            </a:r>
            <a:endParaRPr lang="en-US" sz="1300" dirty="0"/>
          </a:p>
          <a:p>
            <a:pPr marL="342900" indent="-342900">
              <a:spcAft>
                <a:spcPts val="1200"/>
              </a:spcAft>
              <a:buSzPct val="100000"/>
              <a:buChar char="▪"/>
            </a:pPr>
            <a:r>
              <a:rPr lang="en-US" sz="1300" dirty="0">
                <a:solidFill>
                  <a:srgbClr val="2B2B2B"/>
                </a:solidFill>
                <a:latin typeface="Calibri" pitchFamily="34" charset="0"/>
                <a:ea typeface="Calibri" pitchFamily="34" charset="-122"/>
                <a:cs typeface="Calibri" pitchFamily="34" charset="-120"/>
              </a:rPr>
              <a:t>Tokens and settings are managed centrally, not by memory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Terraform Automation Works</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From code to a fully configured observability pipeline</a:t>
            </a:r>
            <a:endParaRPr lang="en-US" sz="1400" dirty="0"/>
          </a:p>
        </p:txBody>
      </p:sp>
      <p:sp>
        <p:nvSpPr>
          <p:cNvPr id="6" name="Shape 4"/>
          <p:cNvSpPr/>
          <p:nvPr/>
        </p:nvSpPr>
        <p:spPr>
          <a:xfrm>
            <a:off x="457200" y="2377440"/>
            <a:ext cx="2377440" cy="1188720"/>
          </a:xfrm>
          <a:prstGeom prst="rect">
            <a:avLst/>
          </a:prstGeom>
          <a:solidFill>
            <a:srgbClr val="F4F6FA"/>
          </a:solidFill>
          <a:ln w="15875">
            <a:solidFill>
              <a:srgbClr val="1E2761"/>
            </a:solidFill>
            <a:prstDash val="solid"/>
          </a:ln>
        </p:spPr>
      </p:sp>
      <p:sp>
        <p:nvSpPr>
          <p:cNvPr id="7" name="Text 5"/>
          <p:cNvSpPr/>
          <p:nvPr/>
        </p:nvSpPr>
        <p:spPr>
          <a:xfrm>
            <a:off x="530352" y="2432304"/>
            <a:ext cx="223113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Terraform</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Config Files</a:t>
            </a:r>
            <a:endParaRPr lang="en-US" sz="1300" dirty="0"/>
          </a:p>
        </p:txBody>
      </p:sp>
      <p:sp>
        <p:nvSpPr>
          <p:cNvPr id="8" name="Text 6"/>
          <p:cNvSpPr/>
          <p:nvPr/>
        </p:nvSpPr>
        <p:spPr>
          <a:xfrm>
            <a:off x="530352" y="2688336"/>
            <a:ext cx="2231136" cy="82296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Collector settings,</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HEC tokens, dashboards</a:t>
            </a:r>
            <a:endParaRPr lang="en-US" sz="950" dirty="0"/>
          </a:p>
        </p:txBody>
      </p:sp>
      <p:sp>
        <p:nvSpPr>
          <p:cNvPr id="9" name="Shape 7"/>
          <p:cNvSpPr/>
          <p:nvPr/>
        </p:nvSpPr>
        <p:spPr>
          <a:xfrm>
            <a:off x="2834640" y="2971800"/>
            <a:ext cx="411480" cy="0"/>
          </a:xfrm>
          <a:prstGeom prst="line">
            <a:avLst/>
          </a:prstGeom>
          <a:noFill/>
          <a:ln w="19050">
            <a:solidFill>
              <a:srgbClr val="1E2761"/>
            </a:solidFill>
            <a:prstDash val="solid"/>
            <a:tailEnd type="triangle"/>
          </a:ln>
        </p:spPr>
      </p:sp>
      <p:sp>
        <p:nvSpPr>
          <p:cNvPr id="10" name="Shape 8"/>
          <p:cNvSpPr/>
          <p:nvPr/>
        </p:nvSpPr>
        <p:spPr>
          <a:xfrm>
            <a:off x="3246120" y="2377440"/>
            <a:ext cx="2560320" cy="1188720"/>
          </a:xfrm>
          <a:prstGeom prst="rect">
            <a:avLst/>
          </a:prstGeom>
          <a:solidFill>
            <a:srgbClr val="1E2761"/>
          </a:solidFill>
          <a:ln w="15875">
            <a:solidFill>
              <a:srgbClr val="1E2761"/>
            </a:solidFill>
            <a:prstDash val="solid"/>
          </a:ln>
        </p:spPr>
      </p:sp>
      <p:sp>
        <p:nvSpPr>
          <p:cNvPr id="11" name="Text 9"/>
          <p:cNvSpPr/>
          <p:nvPr/>
        </p:nvSpPr>
        <p:spPr>
          <a:xfrm>
            <a:off x="3319272" y="2432304"/>
            <a:ext cx="241401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terraform apply</a:t>
            </a:r>
            <a:endParaRPr lang="en-US" sz="1300" dirty="0"/>
          </a:p>
        </p:txBody>
      </p:sp>
      <p:sp>
        <p:nvSpPr>
          <p:cNvPr id="12" name="Text 10"/>
          <p:cNvSpPr/>
          <p:nvPr/>
        </p:nvSpPr>
        <p:spPr>
          <a:xfrm>
            <a:off x="3319272" y="2688336"/>
            <a:ext cx="2414016" cy="822960"/>
          </a:xfrm>
          <a:prstGeom prst="rect">
            <a:avLst/>
          </a:prstGeom>
          <a:noFill/>
          <a:ln/>
        </p:spPr>
        <p:txBody>
          <a:bodyPr wrap="square" lIns="0" tIns="0" rIns="0" bIns="0" rtlCol="0" anchor="t"/>
          <a:lstStyle/>
          <a:p>
            <a:pPr algn="ctr" indent="0" marL="0">
              <a:buNone/>
            </a:pPr>
            <a:r>
              <a:rPr lang="en-US" sz="950" dirty="0">
                <a:solidFill>
                  <a:srgbClr val="E4E9F5"/>
                </a:solidFill>
                <a:latin typeface="Calibri" pitchFamily="34" charset="0"/>
                <a:ea typeface="Calibri" pitchFamily="34" charset="-122"/>
                <a:cs typeface="Calibri" pitchFamily="34" charset="-120"/>
              </a:rPr>
              <a:t>Plans and applies</a:t>
            </a:r>
            <a:endParaRPr lang="en-US" sz="950" dirty="0"/>
          </a:p>
          <a:p>
            <a:pPr algn="ctr" indent="0" marL="0">
              <a:buNone/>
            </a:pPr>
            <a:r>
              <a:rPr lang="en-US" sz="950" dirty="0">
                <a:solidFill>
                  <a:srgbClr val="E4E9F5"/>
                </a:solidFill>
                <a:latin typeface="Calibri" pitchFamily="34" charset="0"/>
                <a:ea typeface="Calibri" pitchFamily="34" charset="-122"/>
                <a:cs typeface="Calibri" pitchFamily="34" charset="-120"/>
              </a:rPr>
              <a:t>the defined state</a:t>
            </a:r>
            <a:endParaRPr lang="en-US" sz="950" dirty="0"/>
          </a:p>
        </p:txBody>
      </p:sp>
      <p:sp>
        <p:nvSpPr>
          <p:cNvPr id="13" name="Shape 11"/>
          <p:cNvSpPr/>
          <p:nvPr/>
        </p:nvSpPr>
        <p:spPr>
          <a:xfrm>
            <a:off x="5806440" y="2971800"/>
            <a:ext cx="411480" cy="0"/>
          </a:xfrm>
          <a:prstGeom prst="line">
            <a:avLst/>
          </a:prstGeom>
          <a:noFill/>
          <a:ln w="19050">
            <a:solidFill>
              <a:srgbClr val="1E2761"/>
            </a:solidFill>
            <a:prstDash val="solid"/>
            <a:tailEnd type="triangle"/>
          </a:ln>
        </p:spPr>
      </p:sp>
      <p:sp>
        <p:nvSpPr>
          <p:cNvPr id="14" name="Shape 12"/>
          <p:cNvSpPr/>
          <p:nvPr/>
        </p:nvSpPr>
        <p:spPr>
          <a:xfrm>
            <a:off x="6217920" y="2377440"/>
            <a:ext cx="3017520" cy="1188720"/>
          </a:xfrm>
          <a:prstGeom prst="rect">
            <a:avLst/>
          </a:prstGeom>
          <a:solidFill>
            <a:srgbClr val="F4F6FA"/>
          </a:solidFill>
          <a:ln w="15875">
            <a:solidFill>
              <a:srgbClr val="1E2761"/>
            </a:solidFill>
            <a:prstDash val="solid"/>
          </a:ln>
        </p:spPr>
      </p:sp>
      <p:sp>
        <p:nvSpPr>
          <p:cNvPr id="15" name="Text 13"/>
          <p:cNvSpPr/>
          <p:nvPr/>
        </p:nvSpPr>
        <p:spPr>
          <a:xfrm>
            <a:off x="6291072" y="2432304"/>
            <a:ext cx="287121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Provisioned</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Infrastructure</a:t>
            </a:r>
            <a:endParaRPr lang="en-US" sz="1300" dirty="0"/>
          </a:p>
        </p:txBody>
      </p:sp>
      <p:sp>
        <p:nvSpPr>
          <p:cNvPr id="16" name="Text 14"/>
          <p:cNvSpPr/>
          <p:nvPr/>
        </p:nvSpPr>
        <p:spPr>
          <a:xfrm>
            <a:off x="6291072" y="2688336"/>
            <a:ext cx="2871216" cy="82296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OTel Collector deployed,</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HEC tokens created</a:t>
            </a:r>
            <a:endParaRPr lang="en-US" sz="950" dirty="0"/>
          </a:p>
        </p:txBody>
      </p:sp>
      <p:sp>
        <p:nvSpPr>
          <p:cNvPr id="17" name="Shape 15"/>
          <p:cNvSpPr/>
          <p:nvPr/>
        </p:nvSpPr>
        <p:spPr>
          <a:xfrm>
            <a:off x="9235440" y="2971800"/>
            <a:ext cx="411480" cy="0"/>
          </a:xfrm>
          <a:prstGeom prst="line">
            <a:avLst/>
          </a:prstGeom>
          <a:noFill/>
          <a:ln w="19050">
            <a:solidFill>
              <a:srgbClr val="1E2761"/>
            </a:solidFill>
            <a:prstDash val="solid"/>
            <a:tailEnd type="triangle"/>
          </a:ln>
        </p:spPr>
      </p:sp>
      <p:sp>
        <p:nvSpPr>
          <p:cNvPr id="18" name="Shape 16"/>
          <p:cNvSpPr/>
          <p:nvPr/>
        </p:nvSpPr>
        <p:spPr>
          <a:xfrm>
            <a:off x="9646920" y="2377440"/>
            <a:ext cx="2377440" cy="1188720"/>
          </a:xfrm>
          <a:prstGeom prst="rect">
            <a:avLst/>
          </a:prstGeom>
          <a:solidFill>
            <a:srgbClr val="F4F6FA"/>
          </a:solidFill>
          <a:ln w="15875">
            <a:solidFill>
              <a:srgbClr val="1E2761"/>
            </a:solidFill>
            <a:prstDash val="solid"/>
          </a:ln>
        </p:spPr>
      </p:sp>
      <p:sp>
        <p:nvSpPr>
          <p:cNvPr id="19" name="Text 17"/>
          <p:cNvSpPr/>
          <p:nvPr/>
        </p:nvSpPr>
        <p:spPr>
          <a:xfrm>
            <a:off x="9720072" y="2432304"/>
            <a:ext cx="2231136"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Splunk</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Observability</a:t>
            </a:r>
            <a:endParaRPr lang="en-US" sz="1300" dirty="0"/>
          </a:p>
        </p:txBody>
      </p:sp>
      <p:sp>
        <p:nvSpPr>
          <p:cNvPr id="20" name="Text 18"/>
          <p:cNvSpPr/>
          <p:nvPr/>
        </p:nvSpPr>
        <p:spPr>
          <a:xfrm>
            <a:off x="9720072" y="2688336"/>
            <a:ext cx="2231136" cy="822960"/>
          </a:xfrm>
          <a:prstGeom prst="rect">
            <a:avLst/>
          </a:prstGeom>
          <a:noFill/>
          <a:ln/>
        </p:spPr>
        <p:txBody>
          <a:bodyPr wrap="square" lIns="0" tIns="0" rIns="0" bIns="0" rtlCol="0" anchor="t"/>
          <a:lstStyle/>
          <a:p>
            <a:pPr algn="ctr" indent="0" marL="0">
              <a:buNone/>
            </a:pPr>
            <a:r>
              <a:rPr lang="en-US" sz="950" dirty="0">
                <a:solidFill>
                  <a:srgbClr val="2B2B2B"/>
                </a:solidFill>
                <a:latin typeface="Calibri" pitchFamily="34" charset="0"/>
                <a:ea typeface="Calibri" pitchFamily="34" charset="-122"/>
                <a:cs typeface="Calibri" pitchFamily="34" charset="-120"/>
              </a:rPr>
              <a:t>Data flowing in,</a:t>
            </a:r>
            <a:endParaRPr lang="en-US" sz="950" dirty="0"/>
          </a:p>
          <a:p>
            <a:pPr algn="ctr" indent="0" marL="0">
              <a:buNone/>
            </a:pPr>
            <a:r>
              <a:rPr lang="en-US" sz="950" dirty="0">
                <a:solidFill>
                  <a:srgbClr val="2B2B2B"/>
                </a:solidFill>
                <a:latin typeface="Calibri" pitchFamily="34" charset="0"/>
                <a:ea typeface="Calibri" pitchFamily="34" charset="-122"/>
                <a:cs typeface="Calibri" pitchFamily="34" charset="-120"/>
              </a:rPr>
              <a:t>consistently configured</a:t>
            </a:r>
            <a:endParaRPr lang="en-US" sz="950" dirty="0"/>
          </a:p>
        </p:txBody>
      </p:sp>
      <p:sp>
        <p:nvSpPr>
          <p:cNvPr id="21" name="Text 19"/>
          <p:cNvSpPr/>
          <p:nvPr/>
        </p:nvSpPr>
        <p:spPr>
          <a:xfrm>
            <a:off x="548640" y="4023360"/>
            <a:ext cx="11064240" cy="54864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The same configuration can be applied to a new environment, a disaster-recovery region, or an entire fleet — with one command.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OTel &amp; HEC  |  What, Why &amp; Automation</a:t>
            </a:r>
            <a:endParaRPr lang="en-US" sz="1000" dirty="0"/>
          </a:p>
        </p:txBody>
      </p:sp>
      <p:sp>
        <p:nvSpPr>
          <p:cNvPr id="3" name="Text 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4" name="Text 2"/>
          <p:cNvSpPr/>
          <p:nvPr/>
        </p:nvSpPr>
        <p:spPr>
          <a:xfrm>
            <a:off x="548640" y="36576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Key Takeaways</a:t>
            </a:r>
            <a:endParaRPr lang="en-US" sz="3000" dirty="0"/>
          </a:p>
        </p:txBody>
      </p:sp>
      <p:sp>
        <p:nvSpPr>
          <p:cNvPr id="5" name="Text 3"/>
          <p:cNvSpPr/>
          <p:nvPr/>
        </p:nvSpPr>
        <p:spPr>
          <a:xfrm>
            <a:off x="548640" y="960120"/>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What to remember from this session</a:t>
            </a:r>
            <a:endParaRPr lang="en-US" sz="1400" dirty="0"/>
          </a:p>
        </p:txBody>
      </p:sp>
      <p:sp>
        <p:nvSpPr>
          <p:cNvPr id="6" name="Shape 4"/>
          <p:cNvSpPr/>
          <p:nvPr/>
        </p:nvSpPr>
        <p:spPr>
          <a:xfrm>
            <a:off x="548640" y="1600200"/>
            <a:ext cx="2743200" cy="731520"/>
          </a:xfrm>
          <a:prstGeom prst="rect">
            <a:avLst/>
          </a:prstGeom>
          <a:solidFill>
            <a:srgbClr val="1E2761"/>
          </a:solidFill>
          <a:ln w="15875">
            <a:solidFill>
              <a:srgbClr val="1E2761"/>
            </a:solidFill>
            <a:prstDash val="solid"/>
          </a:ln>
        </p:spPr>
      </p:sp>
      <p:sp>
        <p:nvSpPr>
          <p:cNvPr id="7" name="Text 5"/>
          <p:cNvSpPr/>
          <p:nvPr/>
        </p:nvSpPr>
        <p:spPr>
          <a:xfrm>
            <a:off x="594360" y="1600200"/>
            <a:ext cx="265176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OTel</a:t>
            </a:r>
            <a:endParaRPr lang="en-US" sz="1300" dirty="0"/>
          </a:p>
        </p:txBody>
      </p:sp>
      <p:sp>
        <p:nvSpPr>
          <p:cNvPr id="8" name="Text 6"/>
          <p:cNvSpPr/>
          <p:nvPr/>
        </p:nvSpPr>
        <p:spPr>
          <a:xfrm>
            <a:off x="3566160" y="1645920"/>
            <a:ext cx="8046720" cy="64008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 vendor-neutral standard collector for metrics, traces and logs — one agent, many backends</a:t>
            </a:r>
            <a:endParaRPr lang="en-US" sz="1250" dirty="0"/>
          </a:p>
        </p:txBody>
      </p:sp>
      <p:sp>
        <p:nvSpPr>
          <p:cNvPr id="9" name="Shape 7"/>
          <p:cNvSpPr/>
          <p:nvPr/>
        </p:nvSpPr>
        <p:spPr>
          <a:xfrm>
            <a:off x="548640" y="2514600"/>
            <a:ext cx="2743200" cy="731520"/>
          </a:xfrm>
          <a:prstGeom prst="rect">
            <a:avLst/>
          </a:prstGeom>
          <a:solidFill>
            <a:srgbClr val="1E2761"/>
          </a:solidFill>
          <a:ln w="15875">
            <a:solidFill>
              <a:srgbClr val="1E2761"/>
            </a:solidFill>
            <a:prstDash val="solid"/>
          </a:ln>
        </p:spPr>
      </p:sp>
      <p:sp>
        <p:nvSpPr>
          <p:cNvPr id="10" name="Text 8"/>
          <p:cNvSpPr/>
          <p:nvPr/>
        </p:nvSpPr>
        <p:spPr>
          <a:xfrm>
            <a:off x="594360" y="2514600"/>
            <a:ext cx="265176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HEC</a:t>
            </a:r>
            <a:endParaRPr lang="en-US" sz="1300" dirty="0"/>
          </a:p>
        </p:txBody>
      </p:sp>
      <p:sp>
        <p:nvSpPr>
          <p:cNvPr id="11" name="Text 9"/>
          <p:cNvSpPr/>
          <p:nvPr/>
        </p:nvSpPr>
        <p:spPr>
          <a:xfrm>
            <a:off x="3566160" y="2560320"/>
            <a:ext cx="8046720" cy="64008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Splunk's token-based HTTP path for sending data in, no forwarder installation required</a:t>
            </a:r>
            <a:endParaRPr lang="en-US" sz="1250" dirty="0"/>
          </a:p>
        </p:txBody>
      </p:sp>
      <p:sp>
        <p:nvSpPr>
          <p:cNvPr id="12" name="Shape 10"/>
          <p:cNvSpPr/>
          <p:nvPr/>
        </p:nvSpPr>
        <p:spPr>
          <a:xfrm>
            <a:off x="548640" y="3429000"/>
            <a:ext cx="2743200" cy="731520"/>
          </a:xfrm>
          <a:prstGeom prst="rect">
            <a:avLst/>
          </a:prstGeom>
          <a:solidFill>
            <a:srgbClr val="1E2761"/>
          </a:solidFill>
          <a:ln w="15875">
            <a:solidFill>
              <a:srgbClr val="1E2761"/>
            </a:solidFill>
            <a:prstDash val="solid"/>
          </a:ln>
        </p:spPr>
      </p:sp>
      <p:sp>
        <p:nvSpPr>
          <p:cNvPr id="13" name="Text 11"/>
          <p:cNvSpPr/>
          <p:nvPr/>
        </p:nvSpPr>
        <p:spPr>
          <a:xfrm>
            <a:off x="594360" y="3429000"/>
            <a:ext cx="265176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Together</a:t>
            </a:r>
            <a:endParaRPr lang="en-US" sz="1300" dirty="0"/>
          </a:p>
        </p:txBody>
      </p:sp>
      <p:sp>
        <p:nvSpPr>
          <p:cNvPr id="14" name="Text 12"/>
          <p:cNvSpPr/>
          <p:nvPr/>
        </p:nvSpPr>
        <p:spPr>
          <a:xfrm>
            <a:off x="3566160" y="3474720"/>
            <a:ext cx="8046720" cy="64008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Collector uses HEC as one export path into the Splunk platform</a:t>
            </a:r>
            <a:endParaRPr lang="en-US" sz="1250" dirty="0"/>
          </a:p>
        </p:txBody>
      </p:sp>
      <p:sp>
        <p:nvSpPr>
          <p:cNvPr id="15" name="Shape 13"/>
          <p:cNvSpPr/>
          <p:nvPr/>
        </p:nvSpPr>
        <p:spPr>
          <a:xfrm>
            <a:off x="548640" y="4343400"/>
            <a:ext cx="2743200" cy="731520"/>
          </a:xfrm>
          <a:prstGeom prst="rect">
            <a:avLst/>
          </a:prstGeom>
          <a:solidFill>
            <a:srgbClr val="1E2761"/>
          </a:solidFill>
          <a:ln w="15875">
            <a:solidFill>
              <a:srgbClr val="1E2761"/>
            </a:solidFill>
            <a:prstDash val="solid"/>
          </a:ln>
        </p:spPr>
      </p:sp>
      <p:sp>
        <p:nvSpPr>
          <p:cNvPr id="16" name="Text 14"/>
          <p:cNvSpPr/>
          <p:nvPr/>
        </p:nvSpPr>
        <p:spPr>
          <a:xfrm>
            <a:off x="594360" y="4343400"/>
            <a:ext cx="265176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Terraform</a:t>
            </a:r>
            <a:endParaRPr lang="en-US" sz="1300" dirty="0"/>
          </a:p>
        </p:txBody>
      </p:sp>
      <p:sp>
        <p:nvSpPr>
          <p:cNvPr id="17" name="Text 15"/>
          <p:cNvSpPr/>
          <p:nvPr/>
        </p:nvSpPr>
        <p:spPr>
          <a:xfrm>
            <a:off x="3566160" y="4389120"/>
            <a:ext cx="8046720" cy="64008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Turns Collector and HEC setup into consistent, version-controlled, repeatable code</a:t>
            </a:r>
            <a:endParaRPr lang="en-US" sz="1250" dirty="0"/>
          </a:p>
        </p:txBody>
      </p:sp>
      <p:sp>
        <p:nvSpPr>
          <p:cNvPr id="18" name="Text 16"/>
          <p:cNvSpPr/>
          <p:nvPr/>
        </p:nvSpPr>
        <p:spPr>
          <a:xfrm>
            <a:off x="548640" y="5440680"/>
            <a:ext cx="1106424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Bottom line: standardize collection with OTel, deliver it reliably with HEC, and keep it consistent with Terraform.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OTel &amp; HEC - What, Why, and Why Automate with Terraform</dc:title>
  <dc:subject>PptxGenJS Presentation</dc:subject>
  <dc:creator>Training Team</dc:creator>
  <cp:lastModifiedBy>Training Team</cp:lastModifiedBy>
  <cp:revision>1</cp:revision>
  <dcterms:created xsi:type="dcterms:W3CDTF">2026-07-01T08:20:48Z</dcterms:created>
  <dcterms:modified xsi:type="dcterms:W3CDTF">2026-07-01T08:20:48Z</dcterms:modified>
</cp:coreProperties>
</file>